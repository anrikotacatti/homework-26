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2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RPS</c:v>
                </c:pt>
              </c:strCache>
            </c:strRef>
          </c:tx>
          <c:spPr>
            <a:solidFill>
              <a:srgbClr val="FF7A5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Чтение</c:v>
                  </c:pt>
                  <c:pt idx="1">
                    <c:v>Запись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5000</c:v>
                </c:pt>
                <c:pt idx="1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8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тыс./мес</c:v>
                </c:pt>
              </c:strCache>
            </c:strRef>
          </c:tx>
          <c:spPr>
            <a:solidFill>
              <a:srgbClr val="FF7A5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7A5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AA5C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7A5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9AA5C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9AA5C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Egress (CDN)</c:v>
                  </c:pt>
                  <c:pt idx="1">
                    <c:v>Хранилища и managed</c:v>
                  </c:pt>
                  <c:pt idx="2">
                    <c:v>API Gateway</c:v>
                  </c:pt>
                  <c:pt idx="3">
                    <c:v>Compute</c:v>
                  </c:pt>
                  <c:pt idx="4">
                    <c:v>Прочее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21.5</c:v>
                </c:pt>
                <c:pt idx="1">
                  <c:v>12.1</c:v>
                </c:pt>
                <c:pt idx="2">
                  <c:v>0.4</c:v>
                </c:pt>
                <c:pt idx="3">
                  <c:v>4.3</c:v>
                </c:pt>
                <c:pt idx="4">
                  <c:v>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1F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2377440"/>
            <a:ext cx="6400800" cy="64008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4206240"/>
            <a:ext cx="3657600" cy="3657600"/>
          </a:xfrm>
          <a:prstGeom prst="ellipse">
            <a:avLst/>
          </a:prstGeom>
          <a:solidFill>
            <a:srgbClr val="2731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 АРХИТЕКТУРЫ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8686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Сервис объявлений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 доставкой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Дизайн системы масштаба Avito · требования → архитектура → надёжность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257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млн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779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200400" y="5257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млн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5779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объявлений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852160" y="52578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577900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439912" y="6355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перед комиссией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ТРЕБОВАНИЯ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Функциональные и нефункциональные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Функциональные (scope)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7393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7739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73736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Объявления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173736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Создание, редактирование, удаление (CRUD)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21284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2212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17627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Поиск и фильтры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2834640" y="217627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категории, локации, цене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65176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548640" y="26517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2615184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Просмотр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261518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объявления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09067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005840" y="3054096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Авторизация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834640" y="305409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Регистрация и вход пользователей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352958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8640" y="35295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005840" y="349300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Чат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2834640" y="349300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Переписка покупатель ↔ продавец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3968496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8640" y="39684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005840" y="3931920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Отзывы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2834640" y="3931920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Рейтинги после сделки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407408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548640" y="44074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1005840" y="4370832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Оплата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2834640" y="4370832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внешний Payment Provider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48640" y="4846320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48640" y="4846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1005840" y="4809744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Доставка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2834640" y="4809744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внешний Delivery Provider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5285232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48640" y="52852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1005840" y="5248656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Модерация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2834640" y="5248656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объявлений перед публикацией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48640" y="5724144"/>
            <a:ext cx="310896" cy="31089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48640" y="5724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005840" y="5687568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Фото</a:t>
            </a:r>
            <a:endParaRPr lang="en-US" sz="1150" dirty="0"/>
          </a:p>
        </p:txBody>
      </p:sp>
      <p:sp>
        <p:nvSpPr>
          <p:cNvPr id="44" name="Text 42"/>
          <p:cNvSpPr txBox="1"/>
          <p:nvPr/>
        </p:nvSpPr>
        <p:spPr>
          <a:xfrm>
            <a:off x="2834640" y="56875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Ресайз в 3 размера, лимит ≤1 МБ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99632" y="1371600"/>
            <a:ext cx="0" cy="475488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6492240" y="1325880"/>
            <a:ext cx="51480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Нефункциональные (цифры)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492240" y="1737360"/>
            <a:ext cx="2482596" cy="987552"/>
          </a:xfrm>
          <a:prstGeom prst="roundRect">
            <a:avLst>
              <a:gd name="adj" fmla="val 7407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48" name="Text 46"/>
          <p:cNvSpPr txBox="1"/>
          <p:nvPr/>
        </p:nvSpPr>
        <p:spPr>
          <a:xfrm>
            <a:off x="6675120" y="1847088"/>
            <a:ext cx="21168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млн</a:t>
            </a:r>
            <a:endParaRPr lang="en-US" sz="2200" dirty="0"/>
          </a:p>
        </p:txBody>
      </p:sp>
      <p:sp>
        <p:nvSpPr>
          <p:cNvPr id="49" name="Text 47"/>
          <p:cNvSpPr txBox="1"/>
          <p:nvPr/>
        </p:nvSpPr>
        <p:spPr>
          <a:xfrm>
            <a:off x="6675120" y="2359152"/>
            <a:ext cx="21168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9157716" y="1737360"/>
            <a:ext cx="2482596" cy="987552"/>
          </a:xfrm>
          <a:prstGeom prst="roundRect">
            <a:avLst>
              <a:gd name="adj" fmla="val 7407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51" name="Text 49"/>
          <p:cNvSpPr txBox="1"/>
          <p:nvPr/>
        </p:nvSpPr>
        <p:spPr>
          <a:xfrm>
            <a:off x="9340596" y="1847088"/>
            <a:ext cx="21168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млн</a:t>
            </a:r>
            <a:endParaRPr lang="en-US" sz="2200" dirty="0"/>
          </a:p>
        </p:txBody>
      </p:sp>
      <p:sp>
        <p:nvSpPr>
          <p:cNvPr id="52" name="Text 50"/>
          <p:cNvSpPr txBox="1"/>
          <p:nvPr/>
        </p:nvSpPr>
        <p:spPr>
          <a:xfrm>
            <a:off x="9340596" y="2359152"/>
            <a:ext cx="21168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объявлений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492240" y="2907792"/>
            <a:ext cx="2482596" cy="987552"/>
          </a:xfrm>
          <a:prstGeom prst="roundRect">
            <a:avLst>
              <a:gd name="adj" fmla="val 7407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54" name="Text 52"/>
          <p:cNvSpPr txBox="1"/>
          <p:nvPr/>
        </p:nvSpPr>
        <p:spPr>
          <a:xfrm>
            <a:off x="6675120" y="3017520"/>
            <a:ext cx="21168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: 1</a:t>
            </a:r>
            <a:endParaRPr lang="en-US" sz="2200" dirty="0"/>
          </a:p>
        </p:txBody>
      </p:sp>
      <p:sp>
        <p:nvSpPr>
          <p:cNvPr id="55" name="Text 53"/>
          <p:cNvSpPr txBox="1"/>
          <p:nvPr/>
        </p:nvSpPr>
        <p:spPr>
          <a:xfrm>
            <a:off x="6675120" y="3529584"/>
            <a:ext cx="21168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: write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157716" y="2907792"/>
            <a:ext cx="2482596" cy="987552"/>
          </a:xfrm>
          <a:prstGeom prst="roundRect">
            <a:avLst>
              <a:gd name="adj" fmla="val 7407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57" name="Text 55"/>
          <p:cNvSpPr txBox="1"/>
          <p:nvPr/>
        </p:nvSpPr>
        <p:spPr>
          <a:xfrm>
            <a:off x="9340596" y="3017520"/>
            <a:ext cx="21168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5 000 RPS</a:t>
            </a:r>
            <a:endParaRPr lang="en-US" sz="2200" dirty="0"/>
          </a:p>
        </p:txBody>
      </p:sp>
      <p:sp>
        <p:nvSpPr>
          <p:cNvPr id="58" name="Text 56"/>
          <p:cNvSpPr txBox="1"/>
          <p:nvPr/>
        </p:nvSpPr>
        <p:spPr>
          <a:xfrm>
            <a:off x="9340596" y="3529584"/>
            <a:ext cx="21168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на чтение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92240" y="4078224"/>
            <a:ext cx="2482596" cy="987552"/>
          </a:xfrm>
          <a:prstGeom prst="roundRect">
            <a:avLst>
              <a:gd name="adj" fmla="val 7407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60" name="Text 58"/>
          <p:cNvSpPr txBox="1"/>
          <p:nvPr/>
        </p:nvSpPr>
        <p:spPr>
          <a:xfrm>
            <a:off x="6675120" y="4187952"/>
            <a:ext cx="21168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50 RPS</a:t>
            </a:r>
            <a:endParaRPr lang="en-US" sz="2200" dirty="0"/>
          </a:p>
        </p:txBody>
      </p:sp>
      <p:sp>
        <p:nvSpPr>
          <p:cNvPr id="61" name="Text 59"/>
          <p:cNvSpPr txBox="1"/>
          <p:nvPr/>
        </p:nvSpPr>
        <p:spPr>
          <a:xfrm>
            <a:off x="6675120" y="4700016"/>
            <a:ext cx="21168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на запись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157716" y="4078224"/>
            <a:ext cx="2482596" cy="987552"/>
          </a:xfrm>
          <a:prstGeom prst="roundRect">
            <a:avLst>
              <a:gd name="adj" fmla="val 7407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9340596" y="4187952"/>
            <a:ext cx="21168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200 мс</a:t>
            </a:r>
            <a:endParaRPr lang="en-US" sz="2200" dirty="0"/>
          </a:p>
        </p:txBody>
      </p:sp>
      <p:sp>
        <p:nvSpPr>
          <p:cNvPr id="64" name="Text 62"/>
          <p:cNvSpPr txBox="1"/>
          <p:nvPr/>
        </p:nvSpPr>
        <p:spPr>
          <a:xfrm>
            <a:off x="9340596" y="4700016"/>
            <a:ext cx="211683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поиск, p99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6492240" y="5248656"/>
            <a:ext cx="5148072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66" name="Text 64"/>
          <p:cNvSpPr txBox="1"/>
          <p:nvPr/>
        </p:nvSpPr>
        <p:spPr>
          <a:xfrm>
            <a:off x="6720840" y="5340096"/>
            <a:ext cx="1737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99.9%</a:t>
            </a:r>
            <a:endParaRPr lang="en-US" sz="2400" dirty="0"/>
          </a:p>
        </p:txBody>
      </p:sp>
      <p:sp>
        <p:nvSpPr>
          <p:cNvPr id="67" name="Text 65"/>
          <p:cNvSpPr txBox="1"/>
          <p:nvPr/>
        </p:nvSpPr>
        <p:spPr>
          <a:xfrm>
            <a:off x="6720840" y="5833872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доступность (Availability)</a:t>
            </a:r>
            <a:endParaRPr lang="en-US" sz="1050" dirty="0"/>
          </a:p>
        </p:txBody>
      </p:sp>
      <p:sp>
        <p:nvSpPr>
          <p:cNvPr id="68" name="Text 66"/>
          <p:cNvSpPr txBox="1"/>
          <p:nvPr/>
        </p:nvSpPr>
        <p:spPr>
          <a:xfrm>
            <a:off x="9006840" y="5340096"/>
            <a:ext cx="24505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Строгая консистентность не требуется · один основной регион · стабильная работа в разных гео-точках</a:t>
            </a:r>
            <a:endParaRPr lang="en-US" sz="1050" dirty="0"/>
          </a:p>
        </p:txBody>
      </p:sp>
      <p:sp>
        <p:nvSpPr>
          <p:cNvPr id="69" name="Text 6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</a:t>
            </a:r>
            <a:endParaRPr lang="en-US" sz="900" dirty="0"/>
          </a:p>
        </p:txBody>
      </p:sp>
      <p:sp>
        <p:nvSpPr>
          <p:cNvPr id="70" name="Text 68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ТРЕБОВАНИЯ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Риски, ограничения и backlog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14344" cy="4572000"/>
          </a:xfrm>
          <a:prstGeom prst="roundRect">
            <a:avLst>
              <a:gd name="adj" fmla="val 2082"/>
            </a:avLst>
          </a:prstGeom>
          <a:solidFill>
            <a:srgbClr val="FFF1E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Риски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4672" y="232257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87552" y="2185416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Пик нагрузки на поиск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04672" y="2852928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87552" y="271576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MongoDB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04672" y="3383280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87552" y="3246120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Elasticsearch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" y="3913632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87552" y="3776472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Задержка Kafka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" y="4443984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87552" y="4306824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stampede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4672" y="497433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87552" y="4837176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Недоступность Payment / Delivery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" y="5504688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87552" y="536752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DDoS / боты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337304" y="1554480"/>
            <a:ext cx="3514344" cy="4572000"/>
          </a:xfrm>
          <a:prstGeom prst="roundRect">
            <a:avLst>
              <a:gd name="adj" fmla="val 2082"/>
            </a:avLst>
          </a:prstGeom>
          <a:solidFill>
            <a:srgbClr val="EEF2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65904" y="1737360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Ограничения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593336" y="232257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776216" y="2185416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основной регион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93336" y="2852928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776216" y="271576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Active-Active не реализуем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93336" y="3383280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776216" y="3246120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Payment/Delivery — внешние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93336" y="3913632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776216" y="3776472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ML-модерация вне scope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93336" y="4443984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776216" y="4306824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Мобильные приложения вне scope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125968" y="1554480"/>
            <a:ext cx="3514344" cy="4572000"/>
          </a:xfrm>
          <a:prstGeom prst="roundRect">
            <a:avLst>
              <a:gd name="adj" fmla="val 2082"/>
            </a:avLst>
          </a:prstGeom>
          <a:solidFill>
            <a:srgbClr val="F1F1EE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354568" y="1737360"/>
            <a:ext cx="3057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(вне scope)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382000" y="232257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564880" y="2185416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382000" y="2852928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564880" y="2715768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Рекламная платформа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382000" y="3383280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564880" y="3246120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 лояльности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8382000" y="3913632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564880" y="3776472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Аукционы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8382000" y="4443984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8564880" y="4306824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Международная доставка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382000" y="497433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8564880" y="4837176"/>
            <a:ext cx="2828544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</a:t>
            </a:r>
            <a:endParaRPr lang="en-US" sz="1150" dirty="0"/>
          </a:p>
        </p:txBody>
      </p:sp>
      <p:sp>
        <p:nvSpPr>
          <p:cNvPr id="46" name="Text 4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Требования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КОНЦЕПТУАЛЬНАЯ АРХИТЕКТУРА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C4: Context + Container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3796" y="1371600"/>
            <a:ext cx="10881360" cy="475488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pic>
        <p:nvPicPr>
          <p:cNvPr id="5" name="Image 0" descr="/mnt/user-data/outputs/architectur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0956" y="1508760"/>
            <a:ext cx="10607040" cy="44805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Концептуальная архитектура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КОНЦЕПТУАЛЬНАЯ АРХИТЕКТУРА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Компоненты (1/2): точки входа и сервисы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4533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426464"/>
            <a:ext cx="50886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(Web / Mobile)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682496"/>
            <a:ext cx="50886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Точка входа покупателя, продавца и модератора. Обращается к бэкенду только через API Gateway, фото получает с CDN.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3113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112264"/>
            <a:ext cx="50886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CDN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368296"/>
            <a:ext cx="50886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Раздаёт фото объявлений из S3 ближе к пользователю. Снижает задержку и нагрузку на origin.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91693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2798064"/>
            <a:ext cx="50886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Gateway (Kong / Envoy, ≥2 реплики)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054096"/>
            <a:ext cx="50886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Единая точка входа: балансировка нагрузки, rate limiting, JWT-аутентификация и роутинг запросов к сервисам.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483864"/>
            <a:ext cx="50886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 Create Service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739896"/>
            <a:ext cx="50886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объявлений и валидация, запись в MongoDB. Публикует событие изменения в Kafka.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77240" y="4169664"/>
            <a:ext cx="50886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 Read Service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425696"/>
            <a:ext cx="50886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Отдаёт объявление по id через Redis-кэш. При промахе читает из MongoDB и прогревает кэш.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497433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4855464"/>
            <a:ext cx="50886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Image Resizer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5111496"/>
            <a:ext cx="50886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Приводит фото к 3 размерам и лимиту ≤1 МБ. Сохраняет результат в S3.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5660136"/>
            <a:ext cx="91440" cy="914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77240" y="5541264"/>
            <a:ext cx="50886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Service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797296"/>
            <a:ext cx="50886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и фильтрация по категории, локации и цене через Elasticsearch. Цель — p99 &lt; 200 мс.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23076" y="1545336"/>
            <a:ext cx="91440" cy="9144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51676" y="1426464"/>
            <a:ext cx="50886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Indexer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51676" y="1682496"/>
            <a:ext cx="50886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событий из Kafka. Синхронизирует индекс Elasticsearch с MongoDB (upsert по advert_id).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23076" y="2231136"/>
            <a:ext cx="91440" cy="9144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51676" y="2112264"/>
            <a:ext cx="50886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 Service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6551676" y="2368296"/>
            <a:ext cx="50886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Переписка покупатель ↔ продавец. Доставка в реальном времени через Redis pub/sub, история — в MongoDB.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323076" y="2916936"/>
            <a:ext cx="91440" cy="9144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51676" y="2798064"/>
            <a:ext cx="50886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Service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551676" y="3054096"/>
            <a:ext cx="50886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Хранит и отдаёт отзывы и рейтинги пользователей после завершения сделки.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323076" y="3602736"/>
            <a:ext cx="91440" cy="9144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551676" y="3483864"/>
            <a:ext cx="50886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Service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6551676" y="3739896"/>
            <a:ext cx="50886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Оформляет заказ и инициирует оплату у Payment Provider (idempotency, retry, circuit breaker). Ведёт журнал статусов.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323076" y="4288536"/>
            <a:ext cx="91440" cy="9144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551676" y="4169664"/>
            <a:ext cx="50886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Service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6551676" y="4425696"/>
            <a:ext cx="50886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Создаёт и отслеживает отправление у Delivery Provider после статуса paid (timeout + retry).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323076" y="4974336"/>
            <a:ext cx="91440" cy="9144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51676" y="4855464"/>
            <a:ext cx="50886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Moderation Service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6551676" y="5111496"/>
            <a:ext cx="5088636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Проверяет новые и изменённые объявления и обновляет статус публикации в MongoDB.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094476" y="1417320"/>
            <a:ext cx="0" cy="4754880"/>
          </a:xfrm>
          <a:prstGeom prst="line">
            <a:avLst/>
          </a:prstGeom>
          <a:noFill/>
          <a:ln w="12700">
            <a:solidFill>
              <a:srgbClr val="E3E8F2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Концептуальная архитектура</a:t>
            </a:r>
            <a:endParaRPr lang="en-US" sz="900" dirty="0"/>
          </a:p>
        </p:txBody>
      </p:sp>
      <p:sp>
        <p:nvSpPr>
          <p:cNvPr id="45" name="Text 43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КОНЦЕПТУАЛЬНАЯ АРХИТЕКТУРА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Компоненты (2/2): данные и интеграции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08676" cy="1005840"/>
          </a:xfrm>
          <a:prstGeom prst="roundRect">
            <a:avLst>
              <a:gd name="adj" fmla="val 7273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00200"/>
            <a:ext cx="49514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9384"/>
            <a:ext cx="49514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 для объявлений, чатов и отзывов. Replica Set из 3 узлов с автоматическим failover.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31636" y="1508760"/>
            <a:ext cx="5408676" cy="1005840"/>
          </a:xfrm>
          <a:prstGeom prst="roundRect">
            <a:avLst>
              <a:gd name="adj" fmla="val 7273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60236" y="1600200"/>
            <a:ext cx="49514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(2 инстанса)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60236" y="1929384"/>
            <a:ext cx="49514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Cache: cache-aside (LFU) для чтения объявлений, защита от stampede через coalescing. Pub/Sub: отдельный инстанс для чата (best-effort).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660904"/>
            <a:ext cx="5408676" cy="1005840"/>
          </a:xfrm>
          <a:prstGeom prst="roundRect">
            <a:avLst>
              <a:gd name="adj" fmla="val 7273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752344"/>
            <a:ext cx="49514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Elasticsearch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081528"/>
            <a:ext cx="49514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Производный поисковый индекс для фильтрации и полнотекстового поиска. При потере пересобирается из MongoDB.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31636" y="2660904"/>
            <a:ext cx="5408676" cy="1005840"/>
          </a:xfrm>
          <a:prstGeom prst="roundRect">
            <a:avLst>
              <a:gd name="adj" fmla="val 7273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60236" y="2752344"/>
            <a:ext cx="49514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 (Blob storage)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60236" y="3081528"/>
            <a:ext cx="49514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Объектное хранилище фото в трёх размерах. Версионирование и lifecycle-политика hot → cold.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813048"/>
            <a:ext cx="5408676" cy="1005840"/>
          </a:xfrm>
          <a:prstGeom prst="roundRect">
            <a:avLst>
              <a:gd name="adj" fmla="val 7273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3904488"/>
            <a:ext cx="49514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Kafka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233672"/>
            <a:ext cx="49514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Брокер событий между Advert Create, Search Indexer и Moderation. RF=3, retry, DLQ, мониторинг consumer lag.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813048"/>
            <a:ext cx="5408676" cy="1005840"/>
          </a:xfrm>
          <a:prstGeom prst="roundRect">
            <a:avLst>
              <a:gd name="adj" fmla="val 7273"/>
            </a:avLst>
          </a:prstGeom>
          <a:solidFill>
            <a:srgbClr val="FFF1E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0236" y="3904488"/>
            <a:ext cx="49514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Provider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6460236" y="4233672"/>
            <a:ext cx="49514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Внешняя платёжная система. Вызывается из Order Service, итоговый статус возвращается вебхуком.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965192"/>
            <a:ext cx="5408676" cy="1005840"/>
          </a:xfrm>
          <a:prstGeom prst="roundRect">
            <a:avLst>
              <a:gd name="adj" fmla="val 7273"/>
            </a:avLst>
          </a:prstGeom>
          <a:solidFill>
            <a:srgbClr val="FFF1E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056632"/>
            <a:ext cx="49514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Provider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385816"/>
            <a:ext cx="49514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Внешняя служба доставки. Вызывается из Delivery Service с timeout и retry.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31636" y="4965192"/>
            <a:ext cx="5408676" cy="1005840"/>
          </a:xfrm>
          <a:prstGeom prst="roundRect">
            <a:avLst>
              <a:gd name="adj" fmla="val 7273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60236" y="5056632"/>
            <a:ext cx="49514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ELK / Prometheus / Grafana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460236" y="5385816"/>
            <a:ext cx="49514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слой observability: логи, метрики и дашборды для всех сервисов.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Концептуальная архитектура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КОНЦЕПТУАЛЬНАЯ АРХИТЕКТУРА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Обоснование стиля и ADR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258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микросервисы + события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837944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78308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Нагрузка read:write = 100:1 — чтение масштабируем отдельно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51176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249631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строго консистентна (Mongo), поиск — eventual (CQRS)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264408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264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32095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 каждый домен свой движок: Mongo, ES, Redis, S3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9776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051560" y="392277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Сбой ES, Kafka или провайдера не останавливает создание объявлений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690872"/>
            <a:ext cx="329184" cy="329184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6908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46360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 домена (DDD): Advert, Search, Chat, Order независимы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40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Компромисс: сложнее эксплуатация и eventual consistency 1–2 сек — допустимо по НФТ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0" y="1325880"/>
            <a:ext cx="56967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ADR — ключевые решения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43600" y="1783080"/>
            <a:ext cx="5696712" cy="1325880"/>
          </a:xfrm>
          <a:prstGeom prst="roundRect">
            <a:avLst>
              <a:gd name="adj" fmla="val 5517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172200" y="1874520"/>
            <a:ext cx="5239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ADR-001  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Микросервисы + события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172200" y="2240280"/>
            <a:ext cx="52395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декомпозиция по доменам, интеграция через Kafka и API Gateway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172200" y="2651760"/>
            <a:ext cx="52395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Почему: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независимое масштабирование, изоляция отказов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43600" y="3246120"/>
            <a:ext cx="5696712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172200" y="3337560"/>
            <a:ext cx="5239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ADR-002  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+ Kafka + ES (CQRS)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172200" y="3703320"/>
            <a:ext cx="52395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— source of truth, ES — derived read-model через Kafka-событие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172200" y="4114800"/>
            <a:ext cx="52395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Почему: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 не ждёт индексацию; событие переиспользует Moderation; outbox — см. приложение Г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943600" y="4709160"/>
            <a:ext cx="5696712" cy="1325880"/>
          </a:xfrm>
          <a:prstGeom prst="roundRect">
            <a:avLst>
              <a:gd name="adj" fmla="val 5517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172200" y="4800600"/>
            <a:ext cx="52395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ADR-003   </a:t>
            </a:r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cache-aside (LFU)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172200" y="5166360"/>
            <a:ext cx="52395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Решение: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Service кэширует в Redis, fallback в MongoDB + coalescing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6172200" y="5577840"/>
            <a:ext cx="5239512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Почему: 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RPS чтения без прямой нагрузки на MongoDB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Концептуальная архитектура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КОНЦЕПТУАЛЬНАЯ АРХИТЕКТУРА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Пользователи и внешние интеграции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Роли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17627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1762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04825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Покупатель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377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Поиск, чат, заказ, оплата, отзыв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341071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31520" y="3410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63040" y="328269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Продавец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463040" y="36118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 объявлений, чат, доставка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4389120"/>
            <a:ext cx="5120640" cy="1051560"/>
          </a:xfrm>
          <a:prstGeom prst="roundRect">
            <a:avLst>
              <a:gd name="adj" fmla="val 6957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4645152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31520" y="4645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4517136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Модератор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463040" y="4846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объявлений перед публикацией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640080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Внешние интеграции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192024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6629400" y="202996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Provider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629400" y="234086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 заказа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629400" y="26151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idempotency-key, retry, circuit breaker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400800" y="315468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6629400" y="326440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Provider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357530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Создание/трекинг отправления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38496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+ retry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0" y="4389120"/>
            <a:ext cx="521208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629400" y="4498848"/>
            <a:ext cx="4754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6629400" y="480974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Раздача фото объявлений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6629400" y="50840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managed-сервис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Концептуальная архитектура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САЙЗИНГ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RPS, хранилище, bandwidth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669280" cy="1783080"/>
          </a:xfrm>
          <a:prstGeom prst="roundRect">
            <a:avLst>
              <a:gd name="adj" fmla="val 410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RPS_пик = DAU × действий_в_день ÷ 86 400 × K_пик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2024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Чтение: 10 млн × 15 ÷ 86 400 × 3 ≈ 5 200 RPS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Запись: 10 млн × 0,14 ÷ 86 400 × 3 ≈ 49 RPS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действий, 0,14 записи и K = 3 — допущения, согласованные с ТЗ (5 000 и &lt; 50 RPS); проверяются нагрузочным тестом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383280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456432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 ТБ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514600" y="3456432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метаданные MongoDB: 100 млн × 2 КБ × RF 3 + индексы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4279392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4352544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150 ТБ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2514600" y="4352544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фото в S3: 100 млн × 5 фото × ≈300 КБ после ресайза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5175504"/>
            <a:ext cx="5669280" cy="804672"/>
          </a:xfrm>
          <a:prstGeom prst="roundRect">
            <a:avLst>
              <a:gd name="adj" fmla="val 9091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77240" y="5248656"/>
            <a:ext cx="1645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7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200 ГБ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2514600" y="5248656"/>
            <a:ext cx="3474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индекс Elasticsearch с репликой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1417320"/>
            <a:ext cx="5148072" cy="2880360"/>
          </a:xfrm>
          <a:prstGeom prst="roundRect">
            <a:avLst>
              <a:gd name="adj" fmla="val 2540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720840" y="1536192"/>
            <a:ext cx="46908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Пиковая нагрузка, RPS</a:t>
            </a:r>
            <a:endParaRPr lang="en-US" sz="125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6720840" y="1828800"/>
          <a:ext cx="4690872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Shape 17"/>
          <p:cNvSpPr/>
          <p:nvPr/>
        </p:nvSpPr>
        <p:spPr>
          <a:xfrm>
            <a:off x="6492240" y="4480560"/>
            <a:ext cx="5148072" cy="1554480"/>
          </a:xfrm>
          <a:prstGeom prst="roundRect">
            <a:avLst>
              <a:gd name="adj" fmla="val 4706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720840" y="4572000"/>
            <a:ext cx="4690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Bandwidth = RPS × размер ответа</a:t>
            </a:r>
            <a:endParaRPr lang="en-US" sz="1250" dirty="0"/>
          </a:p>
        </p:txBody>
      </p:sp>
      <p:sp>
        <p:nvSpPr>
          <p:cNvPr id="22" name="Text 19"/>
          <p:cNvSpPr txBox="1"/>
          <p:nvPr/>
        </p:nvSpPr>
        <p:spPr>
          <a:xfrm>
            <a:off x="6720840" y="4892040"/>
            <a:ext cx="46908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RPS × 5 КБ (в среднем) = 25 МБ/с ≈ 200 Мбит/с. При 20 КБ — около 800 Мбит/с, всё равно скромно. Основной трафик — фото (≈ 420 ТБ в месяц): их раздаёт CDN, а не наши сервисы.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Сайзинг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САЙЗИНГ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Оценка ресурсов и стоимости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6309360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4290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Статья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Как считали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 тыс./мес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Egress (CDN)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млн DAU × 10 фото × 150 КБ × 30 дн ≈ 420 ТБ × $0,02–0,08 за ГБ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7A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8,6–34,3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Хранилища и managed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S3 150 ТБ (hot/cold), MongoDB, Elasticsearch, Redis, Kafka, логи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8,9–15,2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API Gateway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свой шлюз Kong/Envoy: 2–4 инстанса 2 vCPU, платы за запрос нет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FF7A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0,2–0,5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Compute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≈65–70 инстансов 2 vCPU / 4 ГБ, расчёт по пику 24/7, committed use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3,6–5,0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Прочее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балансировщик, секреты, межзональный трафик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0,8–1,6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22–57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417320"/>
            <a:ext cx="4553712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269480" y="1508760"/>
            <a:ext cx="4187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деньги, $ тыс./мес (середина диапазона)</a:t>
            </a:r>
            <a:endParaRPr lang="en-US" sz="11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7178040" y="1783080"/>
          <a:ext cx="4370832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7269480" y="4023360"/>
            <a:ext cx="4187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(CDN) ≈ 54% счёта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48640" y="4617720"/>
            <a:ext cx="3575304" cy="1463040"/>
          </a:xfrm>
          <a:prstGeom prst="roundRect">
            <a:avLst>
              <a:gd name="adj" fmla="val 5000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690872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Стоимость на пользователя</a:t>
            </a:r>
            <a:endParaRPr lang="en-US" sz="1150" dirty="0"/>
          </a:p>
        </p:txBody>
      </p:sp>
      <p:sp>
        <p:nvSpPr>
          <p:cNvPr id="11" name="Text 7"/>
          <p:cNvSpPr txBox="1"/>
          <p:nvPr/>
        </p:nvSpPr>
        <p:spPr>
          <a:xfrm>
            <a:off x="731520" y="498348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$22–57 тыс. ÷ 10 млн DAU ≈ $0,002–0,006 на пользователя в месяц. Сравнивать с ARPU: инфраструктура не должна стоить больше, чем пользователь приносит.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4306824" y="4617720"/>
            <a:ext cx="3575304" cy="1463040"/>
          </a:xfrm>
          <a:prstGeom prst="roundRect">
            <a:avLst>
              <a:gd name="adj" fmla="val 5000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489704" y="4690872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Рычаги оптимизации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4489704" y="498348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WebP/AVIF: на 30–50% меньше фото и egress · превью в ленте вместо полного снимка · договор с CDN на объём · committed use для compute (−30–50%).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8065008" y="4617720"/>
            <a:ext cx="3575304" cy="1463040"/>
          </a:xfrm>
          <a:prstGeom prst="roundRect">
            <a:avLst>
              <a:gd name="adj" fmla="val 5000"/>
            </a:avLst>
          </a:prstGeom>
          <a:solidFill>
            <a:srgbClr val="FFF1E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8247888" y="4690872"/>
            <a:ext cx="32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Оговорка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8247888" y="4983480"/>
            <a:ext cx="3209544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Цены — ориентиры публичных тарифов, не коммерческое предложение. Самый чувствительный параметр — просмотры фото: при 5 в день egress вдвое меньше. Compute считан по пику 24/7, то есть верхняя граница.</a:t>
            </a:r>
            <a:endParaRPr lang="en-US" sz="950" dirty="0"/>
          </a:p>
        </p:txBody>
      </p:sp>
      <p:sp>
        <p:nvSpPr>
          <p:cNvPr id="18" name="Text 14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Сайзинг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ХРАНЕНИЕ ДАННЫХ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Выбор БД, шардирование, кэш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08676" cy="960120"/>
          </a:xfrm>
          <a:prstGeom prst="roundRect">
            <a:avLst>
              <a:gd name="adj" fmla="val 7619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444752"/>
            <a:ext cx="4951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55648"/>
            <a:ext cx="49514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truth: объявления, чаты, отзывы. Шардирование по hash(advert_id), Replica Set ×3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31636" y="1371600"/>
            <a:ext cx="5408676" cy="960120"/>
          </a:xfrm>
          <a:prstGeom prst="roundRect">
            <a:avLst>
              <a:gd name="adj" fmla="val 7619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460236" y="1444752"/>
            <a:ext cx="4951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Elasticsearch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460236" y="1755648"/>
            <a:ext cx="49514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Производный read-model для поиска. Шардирование по категории + региону, ≥1 реплика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5408676" cy="960120"/>
          </a:xfrm>
          <a:prstGeom prst="roundRect">
            <a:avLst>
              <a:gd name="adj" fmla="val 7619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77240" y="2542032"/>
            <a:ext cx="4951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 ×2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2852928"/>
            <a:ext cx="49514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(LFU, TTL на ключах) для чтения; отдельный Pub/Sub (best-effort) для чата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31636" y="2468880"/>
            <a:ext cx="5408676" cy="960120"/>
          </a:xfrm>
          <a:prstGeom prst="roundRect">
            <a:avLst>
              <a:gd name="adj" fmla="val 7619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60236" y="2542032"/>
            <a:ext cx="495147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60236" y="2852928"/>
            <a:ext cx="4951476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Объектное хранилище фото, 3 размера на объявление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5394960"/>
                <a:gridCol w="3593592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Тема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у нас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Почему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Шардирование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хешированное, ключ advert_id (uuidv7); перебалансировка chunks в фоне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равномерная нагрузка, чтение по id идёт на один шард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Репликация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master-slave: primary + 2 secondary, запись с кворумом (2 из 3); master-master не берём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запись ≈ 50 RPS, конфликты multi-master не оправданы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Партиционирование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горизонтальное — шарды; вертикальное — метаданные в MongoDB, фото в S3, поиск в 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каждое хранилище под свой тип данных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Гео-БД (CockroachDB, Spanner)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берём: один регион по ТЗ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нужны для мультирегиона, дорого и сложно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 14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Защита от cache stampede: request coalescing / distributed lock на «горячих» ключах при промахе кэша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Хранение данных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ВЗАИМОДЕЙСТВИЕ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Протоколы, API и инфраструктура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Протоколы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2938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↔ API Gateway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85416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23160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контракт, совместимость с web/mobile, версионирование /v1/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29169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Gateway ↔ Services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72968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/ JSON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10712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жёсткого latency-бюджета между сервисами, проще в эксплуатации на этом масштабе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3849624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39044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Services ↔ Services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160520"/>
            <a:ext cx="4754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Kafka (async)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4398264"/>
            <a:ext cx="4754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развязка write/read путей, устойчивость к пикам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5212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6576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Инфраструктура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Решение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Gateway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Kong / Envoy: роутинг, rate limit, JWT; ≥2 реплики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Balancer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≥2 экземпляра, least connections + health-check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Discovery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Kubernetes DNS/Service, Consul не нужен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Mesh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берём: мало синхронных вызовов между сервисами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5"/>
          <p:cNvSpPr txBox="1"/>
          <p:nvPr/>
        </p:nvSpPr>
        <p:spPr>
          <a:xfrm>
            <a:off x="6492240" y="14630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API-контракты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92240" y="18745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675120" y="19476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/v1/adverts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675120" y="2240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createAdv() — Idempotency-Key в заголовке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6492240" y="2715768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75120" y="27889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/v1/adverts/{id}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6675120" y="30815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get(adv_id) — чтение через кэш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92240" y="3557016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675120" y="36301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/v1/search?...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675120" y="392277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search() — фильтры, пагинация cursor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6492240" y="4398264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675120" y="447141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/v1/orders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476402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инициация заказа, Idempotency-Key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492240" y="5239512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675120" y="531266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/v1/orders/{id}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6675120" y="56052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заказа (или SSE-события)</a:t>
            </a:r>
            <a:endParaRPr lang="en-US" sz="950" dirty="0"/>
          </a:p>
        </p:txBody>
      </p:sp>
      <p:sp>
        <p:nvSpPr>
          <p:cNvPr id="34" name="Text 3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Взаимодействие</a:t>
            </a:r>
            <a:endParaRPr lang="en-US" sz="900" dirty="0"/>
          </a:p>
        </p:txBody>
      </p:sp>
      <p:sp>
        <p:nvSpPr>
          <p:cNvPr id="35" name="Text 32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НАДЁЖНОСТЬ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RTO/RPO, репликация, DR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RTO / RPO по сервисам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669280" cy="2377440"/>
        </p:xfrm>
        <a:graphic>
          <a:graphicData uri="http://schemas.openxmlformats.org/drawingml/2006/table">
            <a:tbl>
              <a:tblPr/>
              <a:tblGrid>
                <a:gridCol w="1889760"/>
                <a:gridCol w="1889760"/>
                <a:gridCol w="188976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Компонент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Advert (MongoDB)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15 мин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мин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 / Payment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5 мин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0 (idempotency)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(Elasticsearch)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 мин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eventual (reindex)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(Redis)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 мин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best-effort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3434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Схема репликации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70916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Replica Set (3 узла, авто-failover)  ·  Kafka replication factor = 3  ·  Redis Sentinel/Cluster (кэш и pub/sub раздельно)  ·  Elasticsearch ≥1 реплика шарда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92240" y="1417320"/>
            <a:ext cx="5120640" cy="4114800"/>
          </a:xfrm>
          <a:prstGeom prst="roundRect">
            <a:avLst>
              <a:gd name="adj" fmla="val 1778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9" name="Text 6"/>
          <p:cNvSpPr txBox="1"/>
          <p:nvPr/>
        </p:nvSpPr>
        <p:spPr>
          <a:xfrm>
            <a:off x="6720840" y="16002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DR-план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766560" y="2103120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949440" y="19659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регион (ТЗ): сервисы в ≥2 экземплярах по зонам, базы — primary + реплики; между регионами только бэкапы, при росте SLA — warm standby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766560" y="2761488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6949440" y="2624328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Регулярные снапшоты MongoDB и Elasticsearch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766560" y="341985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949440" y="3282696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versioning для фото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766560" y="4078224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49440" y="3941064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Status Log — неизменяемый журнал для сверки после инцидента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766560" y="4736592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949440" y="4599432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 индекса ES — full reindex напрямую из MongoDB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Надёжность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7-8. БЕЗОПАСНОСТЬ И OBSERVABILITY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Защита и наблюдаемость системы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Безопасность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195681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AuthN / AuthZ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2860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на API Gateway, OAuth2/OIDC для клиентов, ролевая модель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77240" y="319125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Шифрование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35204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1.2+ everywhere, encryption at rest (MongoDB, S3)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4297680"/>
            <a:ext cx="53035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77240" y="4425696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F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Секреты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4754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Vault / Cloud KMS, регулярная ротация ключей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141732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Observability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92240" y="1828800"/>
            <a:ext cx="5120640" cy="2331720"/>
          </a:xfrm>
          <a:prstGeom prst="roundRect">
            <a:avLst>
              <a:gd name="adj" fmla="val 3137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9659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Ключевые метрики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286000"/>
            <a:ext cx="466344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RPS / latency p50, p95, p99 по сервисам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Error rate по эндпоинтам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Kafka consumer lag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 query latency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Cache hit-rate (Redis)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MongoDB replication lag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DLQ size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CPU / memory по подам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Uptime / SLA burn rate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Webhook delivery success rate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492240" y="4297680"/>
            <a:ext cx="5120640" cy="1280160"/>
          </a:xfrm>
          <a:prstGeom prst="roundRect">
            <a:avLst>
              <a:gd name="adj" fmla="val 5714"/>
            </a:avLst>
          </a:prstGeom>
          <a:solidFill>
            <a:srgbClr val="FFF1E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20840" y="44348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Алерты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47091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p99 поиска &gt; 200мс · error rate &gt; 1% · consumer lag &gt; порога · MongoDB failover · cache hit-rate &lt; 80% · всплеск отказов webhook · disk &gt; 80%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 и Observability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141B4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ТЕСТИРОВАНИЕ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3152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Нагрузочное тестирование и chaos-инженерия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394960" cy="4114800"/>
          </a:xfrm>
          <a:prstGeom prst="roundRect">
            <a:avLst>
              <a:gd name="adj" fmla="val 1778"/>
            </a:avLst>
          </a:prstGeom>
          <a:solidFill>
            <a:srgbClr val="27317A"/>
          </a:solidFill>
          <a:ln w="9525">
            <a:solidFill>
              <a:srgbClr val="27317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 нагрузочного тестирования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" y="236829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51560" y="223113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Инструмент: k6 / Gatling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300837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051560" y="287121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Постепенный ramp-up до 5000 RPS чтения / 50 RPS записи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64845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051560" y="351129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Сценарии: read-heavy baseline, поисковый burst, всплеск заказов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" y="428853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51560" y="415137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SLO под нагрузкой: p99 поиска &lt; 200мс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492861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51560" y="4791456"/>
            <a:ext cx="4617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Отдельный прогон: пиковая одновременная загрузка фото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600200"/>
            <a:ext cx="5422392" cy="4114800"/>
          </a:xfrm>
          <a:prstGeom prst="roundRect">
            <a:avLst>
              <a:gd name="adj" fmla="val 1778"/>
            </a:avLst>
          </a:prstGeom>
          <a:solidFill>
            <a:srgbClr val="27317A"/>
          </a:solidFill>
          <a:ln w="9525">
            <a:solidFill>
              <a:srgbClr val="27317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92240" y="1783080"/>
            <a:ext cx="48737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Chaos-эксперименты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492240" y="227685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720840" y="2139696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Отключение MongoDB primary → проверка авто-failover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92240" y="282549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720840" y="2688336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Падение ноды Elasticsearch → деградация, не отказ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37413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720840" y="3236976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Обрыв Kafka broker → replication, DLQ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92277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720840" y="3785616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Таймаут Payment Provider → Circuit Breaker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92240" y="447141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720840" y="4334256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Потеря Redis → graceful degradation чата/кэша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92240" y="5020056"/>
            <a:ext cx="82296" cy="8229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720840" y="4882896"/>
            <a:ext cx="4645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Сетевой сплит между AZ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Спасибо! Вопросы?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А (резерв для вопросов)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 и хранилища: из чего сложился счёт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Compute: инстансы из RPS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05840"/>
                <a:gridCol w="1005840"/>
                <a:gridCol w="73152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Сервис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Пик RPS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RPS/инст.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Инст.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Advert Read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5 000 +30%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≈220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≈30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≈1 200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Create/Order/Chat/Review/Delivery/Moderation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100 всего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запас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Indexer, Kafka consumers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события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65–70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251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65–70 инстансов × ≈$55 (2 vCPU / 4 ГБ, committed use) ≈ $3,6–5,0 тыс./мес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548640" y="484632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31520" y="4919472"/>
            <a:ext cx="51206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Egress = DAU × просмотров фото × размер × 30 дн = 10 млн × 10 × 150 КБ × 30 ≈ 420 ТБ/мес. Это почти втрое больше, чем лежит в S3 (150 ТБ): считать надо то, что раздаётся, а не то, что хранится.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371600"/>
            <a:ext cx="52395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Хранилища: тиры и цена</a:t>
            </a:r>
            <a:endParaRPr lang="en-US" sz="130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737360"/>
          <a:ext cx="5239512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463040"/>
                <a:gridCol w="1444752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Объём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$/мес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hot (активные фото)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≈140 ТБ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3 000–3 300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cold (&gt;90 дней без активности)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≈10 ТБ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40–100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(managed)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≈1,2 ТБ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2 000–4 000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Elasticsearch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≈200 ГБ, 3–6 нод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1 200–2 500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 (кэш + pub/sub)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инстанса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400–800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 (RF=3)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брокера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800–1 500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 и метрики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≈27 ТБ / 30 дн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1 500–3 000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6400800" y="5440680"/>
            <a:ext cx="5239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Сумма по хранилищам ≈ $8,9–15,2 тыс./мес. MongoDB и ES стоят в основном за вычисления реплик, а не за диск.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Б (резерв для вопросов)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Накопительные данные, retention, MAU и сезонность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Накопительные данные: DAU × действия × размер × 365 × годы × RF</a:t>
            </a:r>
            <a:endParaRPr lang="en-US" sz="13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91672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731520"/>
                <a:gridCol w="1737360"/>
                <a:gridCol w="313639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Данные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Размер записи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Хранение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Сообщения чата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 КБ, ≈1/польз./день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года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16 ТБ, +5,5 ТБ/год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Kafka-события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КБ, ≈0,14/польз./день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дней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29 ГБ, не растёт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 приложений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 КБ, ≈15/польз./день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дней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27 ТБ, не растёт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Отзывы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 КБ, ≈0,01/польз./день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бессрочно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5,5 ТБ/год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379476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Политика хранения (retention)</a:t>
            </a:r>
            <a:endParaRPr lang="en-US" sz="13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14800"/>
          <a:ext cx="676656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1920240"/>
                <a:gridCol w="2743200"/>
              </a:tblGrid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Данные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Срок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Почему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Метрики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дн + downsampling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стандарт для time-series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Удалённые объявления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soft-delete 30 дн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восстановление, юр. буфер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Status Log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5 лет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сверка и аудит платежей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Чат, отзывы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бессрочно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B1F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история и профиль продавца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8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7635240" y="3794760"/>
            <a:ext cx="4005072" cy="2286000"/>
          </a:xfrm>
          <a:prstGeom prst="roundRect">
            <a:avLst>
              <a:gd name="adj" fmla="val 3200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818120" y="3886200"/>
            <a:ext cx="3639312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 ≈ 3–5 × DAU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влияет на auth-таблицы, холодные профили, уведомления — но не на RPS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Сезонность: запас +20–30%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распродажи, начало учебного года: потолок Read Service ≈ 6 500 RPS, а не жёсткие 5 000</a:t>
            </a:r>
            <a:endParaRPr lang="en-US" sz="105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900" dirty="0"/>
          </a:p>
        </p:txBody>
      </p:sp>
      <p:sp>
        <p:nvSpPr>
          <p:cNvPr id="11" name="Text 7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В (резерв для вопросов)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Рычаги стоимости и цена «девяток»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75304" cy="3429000"/>
          </a:xfrm>
          <a:prstGeom prst="roundRect">
            <a:avLst>
              <a:gd name="adj" fmla="val 2133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50876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покупки compute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874520"/>
            <a:ext cx="320954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On-demand: дороже всего, нет обязательств — для пиков и экспериментов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 / committed: скидка 30–50% за обязательство на 1–3 года — для базовой нагрузки (наши ≈65 инстансов)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Spot: самый дешёвый, но может исчезнуть — только для Indexer и фоновых задач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цена ↔ гибкость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06824" y="1417320"/>
            <a:ext cx="3575304" cy="3429000"/>
          </a:xfrm>
          <a:prstGeom prst="roundRect">
            <a:avLst>
              <a:gd name="adj" fmla="val 2133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9704" y="150876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Снизить egress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489704" y="1874520"/>
            <a:ext cx="320954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WebP/AVIF: фото меньше на 30–50%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Превью в ленте, полный снимок только в карточке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 с CDN на объём (сотни ТБ в месяц)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Hit-rate CDN &gt; 95%: к origin идёт ≤ 5% ≈ 21 ТБ из 420, S3-egress почти исчезает. Клиентский счёт CDN этим не уменьшается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65008" y="1417320"/>
            <a:ext cx="3575304" cy="3429000"/>
          </a:xfrm>
          <a:prstGeom prst="roundRect">
            <a:avLst>
              <a:gd name="adj" fmla="val 2133"/>
            </a:avLst>
          </a:prstGeom>
          <a:solidFill>
            <a:srgbClr val="FFF1EC"/>
          </a:solidFill>
          <a:ln w="9525">
            <a:solidFill>
              <a:srgbClr val="E3E8F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47888" y="1508760"/>
            <a:ext cx="320954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Сколько стоят «девятки»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8247888" y="1874520"/>
            <a:ext cx="3209544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99,9% = до 8,8 ч простоя в год; 99,99% = ≈53 мин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окупаемости: часы простоя, которые удалось избежать × стоимость часа простоя &gt; дополнительные расходы на надёжность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классифайда с одним регионом 99,9% — разумный потолок; мульти-регион пока не окупается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1109167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77240" y="5074920"/>
            <a:ext cx="106344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Скрытые статьи счёта: </a:t>
            </a:r>
            <a:pPr indent="0" marL="0">
              <a:buNone/>
            </a:pPr>
            <a:r>
              <a:rPr lang="en-US" sz="105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межзонный трафик между репликами MongoDB и Kafka; NAT Gateway для обращений к Payment и Delivery Provider; логи (≈ 27 ТБ). Часто не попадают в первый черновик сметы.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Г (резерв для вопросов)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Известные ограничения и доработки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36776"/>
            <a:ext cx="402336" cy="40233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31520" y="16367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490472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Transactional outbox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4023360" y="1472184"/>
            <a:ext cx="7434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Сейчас запись в MongoDB и публикация в Kafka — два шага: при сбое между ними событие теряется. Решение: писать событие в outbox-коллекцию в той же транзакции и публиковать отдельным процессом; индекс восстанавливается полной переиндексацией.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51460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734056"/>
            <a:ext cx="402336" cy="40233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1520" y="27340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587752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Идентификация (JWT)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023360" y="2569464"/>
            <a:ext cx="7434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проверяет JWT, но выпуск токенов (Identity Provider / Auth Service) на схеме не показан. Добавить как отдельный сервис или managed IdP.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2F5FB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831336"/>
            <a:ext cx="402336" cy="40233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3831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3685032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WAF и Context-диаграмма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023360" y="3666744"/>
            <a:ext cx="7434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перед API Gateway защищает от OWASP-атак и ботов; отдельная C4 Context-диаграмма показывает систему и внешних акторов на одном экране.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9525">
            <a:solidFill>
              <a:srgbClr val="E3E8F2"/>
            </a:solidFill>
            <a:prstDash val="solid"/>
          </a:ln>
          <a:effectLst>
            <a:outerShdw sx="100000" sy="100000" kx="0" ky="0" algn="bl" rotWithShape="0" blurRad="76200" dist="25400" dir="5400000">
              <a:srgbClr val="1B1F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4928616"/>
            <a:ext cx="402336" cy="402336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4928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325880" y="4782312"/>
            <a:ext cx="265176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Допущения сайзинга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023360" y="4764024"/>
            <a:ext cx="74340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1F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действий, 0,14 записи, ×3, 5 КБ и 10 просмотров фото — допущения. Проверка: нагрузочное тестирование и телеметрия пилота.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1118311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2026-10-27T07:12:02Z</dcterms:created>
  <dcterms:modified xsi:type="dcterms:W3CDTF">2026-10-27T07:12:02Z</dcterms:modified>
</cp:coreProperties>
</file>